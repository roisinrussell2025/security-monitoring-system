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1" r:id="rId2"/>
    <p:sldId id="2562" r:id="rId3"/>
    <p:sldId id="25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mart Camera Monitor System Presentation" id="{4C363125-9280-48DD-8F7C-5475D60824FF}">
          <p14:sldIdLst>
            <p14:sldId id="2561"/>
          </p14:sldIdLst>
        </p14:section>
        <p14:section name="System Overview and Architecture" id="{8C8606A7-13B8-4E36-B7F0-4901FA97DB13}">
          <p14:sldIdLst>
            <p14:sldId id="2562"/>
            <p14:sldId id="25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1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DD08-77C8-4154-96F0-093B52148AAB}" type="datetimeFigureOut">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1BC33-B55F-4037-B9AA-AB5D9DECCD11}" type="slidenum">
              <a:t>‹#›</a:t>
            </a:fld>
            <a:endParaRPr lang="en-US"/>
          </a:p>
        </p:txBody>
      </p:sp>
    </p:spTree>
    <p:extLst>
      <p:ext uri="{BB962C8B-B14F-4D97-AF65-F5344CB8AC3E}">
        <p14:creationId xmlns:p14="http://schemas.microsoft.com/office/powerpoint/2010/main" val="387637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05A28E45-CC4F-4086-BB65-8E01C0605FA1}" type="slidenum">
              <a:t>1</a:t>
            </a:fld>
            <a:endParaRPr lang="en-US"/>
          </a:p>
        </p:txBody>
      </p:sp>
    </p:spTree>
    <p:extLst>
      <p:ext uri="{BB962C8B-B14F-4D97-AF65-F5344CB8AC3E}">
        <p14:creationId xmlns:p14="http://schemas.microsoft.com/office/powerpoint/2010/main" val="3731345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Smart Camera Monitor System Diagram</a:t>
            </a:r>
          </a:p>
        </p:txBody>
      </p:sp>
      <p:sp>
        <p:nvSpPr>
          <p:cNvPr id="4" name="Slide Number Placeholder 3"/>
          <p:cNvSpPr>
            <a:spLocks noGrp="1"/>
          </p:cNvSpPr>
          <p:nvPr>
            <p:ph type="sldNum" sz="quarter" idx="5"/>
          </p:nvPr>
        </p:nvSpPr>
        <p:spPr/>
        <p:txBody>
          <a:bodyPr/>
          <a:lstStyle/>
          <a:p>
            <a:fld id="{05A28E45-CC4F-4086-BB65-8E01C0605FA1}" type="slidenum">
              <a:t>2</a:t>
            </a:fld>
            <a:endParaRPr lang="en-US"/>
          </a:p>
        </p:txBody>
      </p:sp>
    </p:spTree>
    <p:extLst>
      <p:ext uri="{BB962C8B-B14F-4D97-AF65-F5344CB8AC3E}">
        <p14:creationId xmlns:p14="http://schemas.microsoft.com/office/powerpoint/2010/main" val="405238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Camera Monitor System demonstrates an integrated approach to real-time image capture, data processing, and web-based monitoring using a Raspberry Pi and Python technologies. At the core of the system is the Raspberry Pi camera module, which captures images using the Picamera2 library. These images are processed by a Python script named camera_capture.py, which not only captures the images but also generates structured JSON data including timestamps and event labels. This data is saved locally and then transmitted via an HTTP POST request to a Flask-based backend server. The Flask server receives this data using request.json, processes it, and makes it available to the front-end dashboard. The dashboard, developed using HTML templates within Flask, displays the captured images alongside relevant metadata, allowing users to monitor activity in real time. The use of color-coded components in the diagram visually distinguishes between the camera layer (blue), backend processing (purple), and user interface (green), making the system architecture clear and intuitive. Additionally, the inclusion of arrows in the diagram illustrates the direction of data flow, from image capture through processing to user display. The presentation slide also incorporates a dark, security-themed background to reflect the system’s purpose as a monitoring or surveillance solution. This visual design choice enhances the professional appearance of the presentation and aligns with the application context. Overall, the system demonstrates key concepts such as client-server communication, data serialization using JSON, and web integration using Flask, making it a solid example of an IoT-based monitoring application.</a:t>
            </a:r>
          </a:p>
        </p:txBody>
      </p:sp>
      <p:sp>
        <p:nvSpPr>
          <p:cNvPr id="4" name="Slide Number Placeholder 3"/>
          <p:cNvSpPr>
            <a:spLocks noGrp="1"/>
          </p:cNvSpPr>
          <p:nvPr>
            <p:ph type="sldNum" sz="quarter" idx="5"/>
          </p:nvPr>
        </p:nvSpPr>
        <p:spPr/>
        <p:txBody>
          <a:bodyPr/>
          <a:lstStyle/>
          <a:p>
            <a:fld id="{05A28E45-CC4F-4086-BB65-8E01C0605FA1}" type="slidenum">
              <a:t>3</a:t>
            </a:fld>
            <a:endParaRPr lang="en-US"/>
          </a:p>
        </p:txBody>
      </p:sp>
    </p:spTree>
    <p:extLst>
      <p:ext uri="{BB962C8B-B14F-4D97-AF65-F5344CB8AC3E}">
        <p14:creationId xmlns:p14="http://schemas.microsoft.com/office/powerpoint/2010/main" val="1472280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121953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55670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5/19/2026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7102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5/19/2026</a:t>
            </a:fld>
            <a:endParaRPr lang="en-US"/>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9275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5/19/2026</a:t>
            </a:fld>
            <a:endParaRPr lang="en-US"/>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848707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5/19/2026</a:t>
            </a:fld>
            <a:endParaRPr lang="en-US"/>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57028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5/19/2026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899118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5/19/2026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38229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5/19/2026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06065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73064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5/19/2026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73800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5/19/2026</a:t>
            </a:fld>
            <a:endParaRPr lang="en-US"/>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753630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5/19/2026</a:t>
            </a:fld>
            <a:endParaRPr lang="en-US"/>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41423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5/19/2026</a:t>
            </a:fld>
            <a:endParaRPr lang="en-US"/>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14844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5/19/2026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65191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5/19/2026</a:t>
            </a:fld>
            <a:endParaRPr lang="en-US"/>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24744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98681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23611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877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1027691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7884196"/>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5/19/2026</a:t>
            </a:fld>
            <a:endParaRPr lang="en-US"/>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397398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5/19/2026</a:t>
            </a:fld>
            <a:endParaRPr lang="en-US"/>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980026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84046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861752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5/19/2026</a:t>
            </a:fld>
            <a:endParaRPr lang="en-US"/>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20997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5/19/2026</a:t>
            </a:fld>
            <a:endParaRPr lang="en-US"/>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8558495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5/19/2026</a:t>
            </a:fld>
            <a:endParaRPr lang="en-US"/>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793908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5/19/2026</a:t>
            </a:fld>
            <a:endParaRPr lang="en-US"/>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793948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328180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5/19/2026</a:t>
            </a:fld>
            <a:endParaRPr lang="en-US"/>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2778716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5/19/2026</a:t>
            </a:fld>
            <a:endParaRPr lang="en-US"/>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0648768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5/19/2026</a:t>
            </a:fld>
            <a:endParaRPr lang="en-US"/>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144877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073976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9385169"/>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165402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5/19/2026</a:t>
            </a:fld>
            <a:endParaRPr lang="en-US"/>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1382810"/>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5/19/2026</a:t>
            </a:fld>
            <a:endParaRPr lang="en-US"/>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5126672"/>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25686090"/>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10433843"/>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5/19/2026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8611282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5/19/2026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284195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5/19/2026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491356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5/19/2026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84752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5/19/2026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0880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a:p>
            <a:pPr lvl="2"/>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5/19/2026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65884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5/19/2026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882398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5/19/2026</a:t>
            </a:fld>
            <a:endParaRPr lang="en-US"/>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211495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5/19/2026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60730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5/19/2026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6991872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5/19/2026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0115219"/>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5/19/2026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3421017"/>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5/19/2026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25646447"/>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5/19/2026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915636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5/19/2026</a:t>
            </a:fld>
            <a:endParaRPr lang="en-US"/>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07598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5/19/2026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912486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13240919"/>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5/19/2026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444923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5/19/2026</a:t>
            </a:fld>
            <a:endParaRPr lang="en-US"/>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509177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0184-4CA2-C7A8-AD69-005972EB62B0}"/>
              </a:ext>
            </a:extLst>
          </p:cNvPr>
          <p:cNvSpPr>
            <a:spLocks noGrp="1"/>
          </p:cNvSpPr>
          <p:nvPr>
            <p:ph type="title"/>
          </p:nvPr>
        </p:nvSpPr>
        <p:spPr>
          <a:xfrm>
            <a:off x="1200912" y="4597404"/>
            <a:ext cx="9784077" cy="980435"/>
          </a:xfrm>
        </p:spPr>
        <p:txBody>
          <a:bodyPr anchor="b">
            <a:normAutofit/>
          </a:bodyPr>
          <a:lstStyle/>
          <a:p>
            <a:pPr>
              <a:lnSpc>
                <a:spcPct val="90000"/>
              </a:lnSpc>
            </a:pPr>
            <a:r>
              <a:rPr lang="en-US" sz="3000"/>
              <a:t>Smart Camera Monitor System Presentation</a:t>
            </a:r>
          </a:p>
        </p:txBody>
      </p:sp>
      <p:sp>
        <p:nvSpPr>
          <p:cNvPr id="4" name="Footer Placeholder 3">
            <a:extLst>
              <a:ext uri="{FF2B5EF4-FFF2-40B4-BE49-F238E27FC236}">
                <a16:creationId xmlns:a16="http://schemas.microsoft.com/office/drawing/2014/main" id="{505E41A7-C958-6BE1-42C3-D15979F0D5EA}"/>
              </a:ext>
            </a:extLst>
          </p:cNvPr>
          <p:cNvSpPr>
            <a:spLocks noGrp="1"/>
          </p:cNvSpPr>
          <p:nvPr>
            <p:ph type="ftr" sz="quarter" idx="15"/>
          </p:nvPr>
        </p:nvSpPr>
        <p:spPr>
          <a:xfrm rot="16200000">
            <a:off x="-1005840" y="1525384"/>
            <a:ext cx="2805405" cy="365125"/>
          </a:xfrm>
        </p:spPr>
        <p:txBody>
          <a:bodyPr anchor="ctr">
            <a:normAutofit/>
          </a:bodyPr>
          <a:lstStyle/>
          <a:p>
            <a:pPr>
              <a:spcAft>
                <a:spcPts val="600"/>
              </a:spcAft>
            </a:pPr>
            <a:r>
              <a:rPr lang="en-US"/>
              <a:t>SAMPLE FOOTER TEXT</a:t>
            </a:r>
          </a:p>
        </p:txBody>
      </p:sp>
      <p:sp>
        <p:nvSpPr>
          <p:cNvPr id="3" name="Subtitle 2">
            <a:extLst>
              <a:ext uri="{FF2B5EF4-FFF2-40B4-BE49-F238E27FC236}">
                <a16:creationId xmlns:a16="http://schemas.microsoft.com/office/drawing/2014/main" id="{8AD6850F-3C5F-7177-17AB-6C607B2668B6}"/>
              </a:ext>
            </a:extLst>
          </p:cNvPr>
          <p:cNvSpPr>
            <a:spLocks noGrp="1"/>
          </p:cNvSpPr>
          <p:nvPr>
            <p:ph type="body" sz="quarter" idx="17"/>
          </p:nvPr>
        </p:nvSpPr>
        <p:spPr>
          <a:xfrm>
            <a:off x="1207008" y="5668963"/>
            <a:ext cx="9784842" cy="639762"/>
          </a:xfrm>
        </p:spPr>
        <p:txBody>
          <a:bodyPr>
            <a:normAutofit/>
          </a:bodyPr>
          <a:lstStyle/>
          <a:p>
            <a:r>
              <a:rPr lang="en-US" dirty="0"/>
              <a:t>Innovative surveillance technology enhancing security and monitoring</a:t>
            </a:r>
          </a:p>
        </p:txBody>
      </p:sp>
      <p:pic>
        <p:nvPicPr>
          <p:cNvPr id="6" name="Picture 5" descr="CCTV camera">
            <a:extLst>
              <a:ext uri="{FF2B5EF4-FFF2-40B4-BE49-F238E27FC236}">
                <a16:creationId xmlns:a16="http://schemas.microsoft.com/office/drawing/2014/main" id="{931BD7C3-8B6A-40AB-B776-A8BBB08A4CBD}"/>
              </a:ext>
            </a:extLst>
          </p:cNvPr>
          <p:cNvPicPr>
            <a:picLocks noChangeAspect="1"/>
          </p:cNvPicPr>
          <p:nvPr/>
        </p:nvPicPr>
        <p:blipFill>
          <a:blip r:embed="rId3"/>
          <a:srcRect t="18288" r="1" b="19959"/>
          <a:stretch>
            <a:fillRect/>
          </a:stretch>
        </p:blipFill>
        <p:spPr>
          <a:xfrm>
            <a:off x="808258" y="404999"/>
            <a:ext cx="10575485" cy="3836802"/>
          </a:xfrm>
          <a:prstGeom prst="rect">
            <a:avLst/>
          </a:prstGeom>
        </p:spPr>
      </p:pic>
      <p:sp>
        <p:nvSpPr>
          <p:cNvPr id="5" name="Slide Number Placeholder 4">
            <a:extLst>
              <a:ext uri="{FF2B5EF4-FFF2-40B4-BE49-F238E27FC236}">
                <a16:creationId xmlns:a16="http://schemas.microsoft.com/office/drawing/2014/main" id="{EA6C9B69-8914-1DA8-8C07-3D5AE0A1AF10}"/>
              </a:ext>
            </a:extLst>
          </p:cNvPr>
          <p:cNvSpPr>
            <a:spLocks noGrp="1"/>
          </p:cNvSpPr>
          <p:nvPr>
            <p:ph type="sldNum" sz="quarter" idx="16"/>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367250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20E69-1EED-798F-E220-14B4D62B4F35}"/>
              </a:ext>
            </a:extLst>
          </p:cNvPr>
          <p:cNvSpPr>
            <a:spLocks noGrp="1"/>
          </p:cNvSpPr>
          <p:nvPr>
            <p:ph type="ctrTitle"/>
          </p:nvPr>
        </p:nvSpPr>
        <p:spPr>
          <a:xfrm>
            <a:off x="4130040" y="1645920"/>
            <a:ext cx="3931920" cy="3566160"/>
          </a:xfrm>
        </p:spPr>
        <p:txBody>
          <a:bodyPr anchor="ctr">
            <a:normAutofit/>
          </a:bodyPr>
          <a:lstStyle/>
          <a:p>
            <a:pPr>
              <a:lnSpc>
                <a:spcPct val="90000"/>
              </a:lnSpc>
            </a:pPr>
            <a:r>
              <a:rPr lang="en-US" sz="3900"/>
              <a:t>System Overview and Architecture</a:t>
            </a:r>
          </a:p>
        </p:txBody>
      </p:sp>
      <p:sp>
        <p:nvSpPr>
          <p:cNvPr id="4" name="Footer Placeholder 3">
            <a:extLst>
              <a:ext uri="{FF2B5EF4-FFF2-40B4-BE49-F238E27FC236}">
                <a16:creationId xmlns:a16="http://schemas.microsoft.com/office/drawing/2014/main" id="{4EA66D82-6822-FDE0-39F2-EBECC3F89F82}"/>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88F58AD9-D3ED-6F13-E40F-C33D796DD713}"/>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10069806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BEB9-42AF-3924-17A1-34EF3A140B20}"/>
              </a:ext>
            </a:extLst>
          </p:cNvPr>
          <p:cNvSpPr>
            <a:spLocks noGrp="1"/>
          </p:cNvSpPr>
          <p:nvPr>
            <p:ph type="title"/>
          </p:nvPr>
        </p:nvSpPr>
        <p:spPr>
          <a:xfrm>
            <a:off x="1245108" y="786384"/>
            <a:ext cx="4023360" cy="1280160"/>
          </a:xfrm>
        </p:spPr>
        <p:txBody>
          <a:bodyPr anchor="t">
            <a:normAutofit/>
          </a:bodyPr>
          <a:lstStyle/>
          <a:p>
            <a:pPr>
              <a:lnSpc>
                <a:spcPct val="90000"/>
              </a:lnSpc>
            </a:pPr>
            <a:r>
              <a:rPr lang="en-US" sz="2700"/>
              <a:t>Smart Camera Monitor System Diagram</a:t>
            </a:r>
          </a:p>
        </p:txBody>
      </p:sp>
      <p:sp>
        <p:nvSpPr>
          <p:cNvPr id="3" name="Footer Placeholder 2">
            <a:extLst>
              <a:ext uri="{FF2B5EF4-FFF2-40B4-BE49-F238E27FC236}">
                <a16:creationId xmlns:a16="http://schemas.microsoft.com/office/drawing/2014/main" id="{EF4A9CD1-2425-C33E-7E06-CC86BF4A2125}"/>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4K Resolution">
            <a:extLst>
              <a:ext uri="{FF2B5EF4-FFF2-40B4-BE49-F238E27FC236}">
                <a16:creationId xmlns:a16="http://schemas.microsoft.com/office/drawing/2014/main" id="{246EBC7A-3401-4EAA-A5F3-767E54F747E1}"/>
              </a:ext>
            </a:extLst>
          </p:cNvPr>
          <p:cNvPicPr>
            <a:picLocks noGrp="1" noChangeAspect="1"/>
          </p:cNvPicPr>
          <p:nvPr>
            <p:ph type="pic" sz="quarter" idx="13"/>
          </p:nvPr>
        </p:nvPicPr>
        <p:blipFill>
          <a:blip r:embed="rId3"/>
          <a:stretch/>
        </p:blipFill>
        <p:spPr>
          <a:xfrm>
            <a:off x="1220455" y="3070056"/>
            <a:ext cx="4070907" cy="2289885"/>
          </a:xfrm>
        </p:spPr>
      </p:pic>
      <p:sp>
        <p:nvSpPr>
          <p:cNvPr id="5" name="Content Placeholder 4">
            <a:extLst>
              <a:ext uri="{FF2B5EF4-FFF2-40B4-BE49-F238E27FC236}">
                <a16:creationId xmlns:a16="http://schemas.microsoft.com/office/drawing/2014/main" id="{02A0FA72-6411-E45B-8C18-BE10F976F2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dirty="0"/>
              <a:t>Image Capture and Processing</a:t>
            </a:r>
          </a:p>
          <a:p>
            <a:pPr marL="0" lvl="1" indent="0">
              <a:buFont typeface="Arial" panose="020B0604020202020204" pitchFamily="34" charset="0"/>
              <a:buNone/>
            </a:pPr>
            <a:r>
              <a:rPr lang="en-US" dirty="0"/>
              <a:t>Raspberry Pi camera module captures images processed by Python script generating JSON data with timestamps and event labels. </a:t>
            </a:r>
            <a:r>
              <a:rPr lang="en-US" b="1" i="1" dirty="0"/>
              <a:t>– camera_capture.py – is used to capture image, Create Json, Save file and Send HTTP</a:t>
            </a:r>
          </a:p>
          <a:p>
            <a:pPr marL="0" indent="0">
              <a:spcBef>
                <a:spcPts val="2500"/>
              </a:spcBef>
              <a:buFont typeface="Arial" panose="020B0604020202020204" pitchFamily="34" charset="0"/>
              <a:buNone/>
            </a:pPr>
            <a:r>
              <a:rPr lang="en-US" b="1" dirty="0"/>
              <a:t>Backend Data Handling</a:t>
            </a:r>
          </a:p>
          <a:p>
            <a:pPr marL="0" lvl="1" indent="0">
              <a:buFont typeface="Arial" panose="020B0604020202020204" pitchFamily="34" charset="0"/>
              <a:buNone/>
            </a:pPr>
            <a:r>
              <a:rPr lang="en-US" dirty="0"/>
              <a:t>Flask backend server receives JSON data via HTTP POST, processes it and serves it to the front-end dashboard. </a:t>
            </a:r>
            <a:r>
              <a:rPr lang="en-US" b="1" i="1" dirty="0"/>
              <a:t>Server.py is used to receive POST, request JSON, and Process the data</a:t>
            </a:r>
            <a:r>
              <a:rPr lang="en-US" dirty="0"/>
              <a:t>. </a:t>
            </a:r>
          </a:p>
          <a:p>
            <a:pPr marL="0" indent="0">
              <a:spcBef>
                <a:spcPts val="2500"/>
              </a:spcBef>
              <a:buFont typeface="Arial" panose="020B0604020202020204" pitchFamily="34" charset="0"/>
              <a:buNone/>
            </a:pPr>
            <a:r>
              <a:rPr lang="en-US" b="1" dirty="0"/>
              <a:t>Web-based User Interface</a:t>
            </a:r>
          </a:p>
          <a:p>
            <a:pPr marL="0" lvl="1" indent="0">
              <a:buFont typeface="Arial" panose="020B0604020202020204" pitchFamily="34" charset="0"/>
              <a:buNone/>
            </a:pPr>
            <a:r>
              <a:rPr lang="en-US" dirty="0"/>
              <a:t>Dashboard uses HTML templates to display images and metadata, enabling real-time monitoring with color-coded components. – </a:t>
            </a:r>
            <a:r>
              <a:rPr lang="en-US" b="1" i="1" u="sng" dirty="0"/>
              <a:t>Status HTML </a:t>
            </a:r>
          </a:p>
          <a:p>
            <a:pPr marL="0" indent="0">
              <a:spcBef>
                <a:spcPts val="2500"/>
              </a:spcBef>
              <a:buFont typeface="Arial" panose="020B0604020202020204" pitchFamily="34" charset="0"/>
              <a:buNone/>
            </a:pPr>
            <a:r>
              <a:rPr lang="en-US" b="1" dirty="0"/>
              <a:t>System Architecture Visualization</a:t>
            </a:r>
          </a:p>
          <a:p>
            <a:pPr marL="0" lvl="1" indent="0">
              <a:buFont typeface="Arial" panose="020B0604020202020204" pitchFamily="34" charset="0"/>
              <a:buNone/>
            </a:pPr>
            <a:r>
              <a:rPr lang="en-US" dirty="0"/>
              <a:t>Color-coded layers and arrows in the diagram illustrate data flow from capture to processing to user display on a dark security-themed background.</a:t>
            </a:r>
          </a:p>
        </p:txBody>
      </p:sp>
      <p:sp>
        <p:nvSpPr>
          <p:cNvPr id="6" name="Slide Number Placeholder 5">
            <a:extLst>
              <a:ext uri="{FF2B5EF4-FFF2-40B4-BE49-F238E27FC236}">
                <a16:creationId xmlns:a16="http://schemas.microsoft.com/office/drawing/2014/main" id="{B4CEBED3-0FA1-ACB2-CB40-E79E3F75F208}"/>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553977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473</Words>
  <Application>Microsoft Office PowerPoint</Application>
  <PresentationFormat>Widescreen</PresentationFormat>
  <Paragraphs>24</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Bahnschrift Light</vt:lpstr>
      <vt:lpstr>Calibri</vt:lpstr>
      <vt:lpstr>Circinate</vt:lpstr>
      <vt:lpstr>Smart Camera Monitor System Presentation</vt:lpstr>
      <vt:lpstr>System Overview and Architecture</vt:lpstr>
      <vt:lpstr>Smart Camera Monitor System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Roisin@osheafarms.ie</dc:creator>
  <cp:lastModifiedBy>Roisin Russell</cp:lastModifiedBy>
  <cp:revision>1</cp:revision>
  <dcterms:modified xsi:type="dcterms:W3CDTF">2026-05-19T12:18:27Z</dcterms:modified>
</cp:coreProperties>
</file>